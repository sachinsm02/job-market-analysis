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6C3934C-6875-462B-A809-09CD40657EDC}" name="prasad p" initials="pp" userId="d32047f1cc87bcd1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B1DD1A-3B3E-B639-5C3A-3547114F3683}"/>
              </a:ext>
            </a:extLst>
          </p:cNvPr>
          <p:cNvSpPr txBox="1"/>
          <p:nvPr/>
        </p:nvSpPr>
        <p:spPr>
          <a:xfrm>
            <a:off x="722673" y="2197820"/>
            <a:ext cx="7851056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200" b="1" i="1" dirty="0"/>
              <a:t>📘 Report:</a:t>
            </a:r>
          </a:p>
          <a:p>
            <a:endParaRPr lang="en-SG" sz="3200" b="1" i="1" dirty="0"/>
          </a:p>
          <a:p>
            <a:r>
              <a:rPr lang="en-SG" b="1" dirty="0"/>
              <a:t>              This Job Market Analysis report is designed to provide a comprehensive overview of the current employment landscape, using real-time data visualized through Power BI. The objective is to uncover meaningful insights into the demand for job roles, industry-wise opportunities, salary trends, educational preferences, and regional job distribution.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E342D7-1705-2DD8-6B37-0AF32DC44D2F}"/>
              </a:ext>
            </a:extLst>
          </p:cNvPr>
          <p:cNvSpPr txBox="1"/>
          <p:nvPr/>
        </p:nvSpPr>
        <p:spPr>
          <a:xfrm>
            <a:off x="722673" y="4302388"/>
            <a:ext cx="785105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SG" sz="3200" b="1" i="1" dirty="0"/>
          </a:p>
          <a:p>
            <a:r>
              <a:rPr lang="en-US" b="1" dirty="0"/>
              <a:t>Your aim of this project is to analyze the job market trends for </a:t>
            </a:r>
            <a:r>
              <a:rPr lang="en-US" b="1" dirty="0" err="1"/>
              <a:t>positionsby</a:t>
            </a:r>
            <a:r>
              <a:rPr lang="en-US" b="1" dirty="0"/>
              <a:t> analyzing job data which includes 742 rows and 42 features like </a:t>
            </a:r>
            <a:r>
              <a:rPr lang="en-US" b="1" dirty="0" err="1"/>
              <a:t>Jobtitle</a:t>
            </a:r>
            <a:r>
              <a:rPr lang="en-US" b="1" dirty="0"/>
              <a:t>, Salary Estimate, Job Description, Rating, Company, </a:t>
            </a:r>
            <a:r>
              <a:rPr lang="en-US" b="1" dirty="0" err="1"/>
              <a:t>Location,Company</a:t>
            </a:r>
            <a:r>
              <a:rPr lang="en-US" b="1" dirty="0"/>
              <a:t>, Headquarters and many more acquired from various </a:t>
            </a:r>
            <a:r>
              <a:rPr lang="en-US" b="1" dirty="0" err="1"/>
              <a:t>sources.Your</a:t>
            </a:r>
            <a:r>
              <a:rPr lang="en-US" b="1" dirty="0"/>
              <a:t> goal is to identify the most in-demand skills, qualifications, </a:t>
            </a:r>
            <a:r>
              <a:rPr lang="en-US" b="1" dirty="0" err="1"/>
              <a:t>jobresponsibilities</a:t>
            </a:r>
            <a:r>
              <a:rPr lang="en-US" b="1" dirty="0"/>
              <a:t> and provide insights that can inform job seekers </a:t>
            </a:r>
            <a:r>
              <a:rPr lang="en-US" b="1" dirty="0" err="1"/>
              <a:t>andemployers</a:t>
            </a:r>
            <a:r>
              <a:rPr lang="en-US" b="1" dirty="0"/>
              <a:t>.</a:t>
            </a:r>
            <a:endParaRPr lang="en-SG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844A69-0FD0-61E6-B9E3-66C874C83A5C}"/>
              </a:ext>
            </a:extLst>
          </p:cNvPr>
          <p:cNvSpPr txBox="1"/>
          <p:nvPr/>
        </p:nvSpPr>
        <p:spPr>
          <a:xfrm>
            <a:off x="-117987" y="308696"/>
            <a:ext cx="90751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4800" dirty="0"/>
              <a:t>  </a:t>
            </a:r>
            <a:r>
              <a:rPr lang="en-SG" sz="4800" b="1" i="1" u="sng" dirty="0">
                <a:latin typeface="Aharoni" panose="02010803020104030203" pitchFamily="2" charset="-79"/>
                <a:cs typeface="Aharoni" panose="02010803020104030203" pitchFamily="2" charset="-79"/>
              </a:rPr>
              <a:t>Job Market Analysis Project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2CE82B-C43A-AD9F-715C-72B6BCC8AC94}"/>
              </a:ext>
            </a:extLst>
          </p:cNvPr>
          <p:cNvSpPr txBox="1"/>
          <p:nvPr/>
        </p:nvSpPr>
        <p:spPr>
          <a:xfrm>
            <a:off x="2286000" y="1329192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b="1" dirty="0"/>
              <a:t> </a:t>
            </a:r>
            <a:r>
              <a:rPr lang="en-SG" sz="2000" b="1" i="1" u="sng" dirty="0"/>
              <a:t>Project ID :- PTID-CDA-APR-25-418 </a:t>
            </a:r>
          </a:p>
        </p:txBody>
      </p:sp>
    </p:spTree>
    <p:extLst>
      <p:ext uri="{BB962C8B-B14F-4D97-AF65-F5344CB8AC3E}">
        <p14:creationId xmlns:p14="http://schemas.microsoft.com/office/powerpoint/2010/main" val="4001551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" y="1012723"/>
            <a:ext cx="8308258" cy="4817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2F9BBA-5482-D7D2-FA7E-757288682249}"/>
              </a:ext>
            </a:extLst>
          </p:cNvPr>
          <p:cNvSpPr txBox="1"/>
          <p:nvPr/>
        </p:nvSpPr>
        <p:spPr>
          <a:xfrm>
            <a:off x="1725561" y="221206"/>
            <a:ext cx="54421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4800" b="1" i="1" u="sng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  <a:r>
              <a:rPr lang="en-SG" sz="4800" b="1" i="1" u="sng" dirty="0" err="1">
                <a:latin typeface="Aharoni" panose="02010803020104030203" pitchFamily="2" charset="-79"/>
                <a:cs typeface="Aharoni" panose="02010803020104030203" pitchFamily="2" charset="-79"/>
              </a:rPr>
              <a:t>DashBoard</a:t>
            </a:r>
            <a:r>
              <a:rPr lang="en-SG" sz="4800" b="1" i="1" u="sng" dirty="0">
                <a:latin typeface="Aharoni" panose="02010803020104030203" pitchFamily="2" charset="-79"/>
                <a:cs typeface="Aharoni" panose="02010803020104030203" pitchFamily="2" charset="-79"/>
              </a:rPr>
              <a:t>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58" y="3182820"/>
            <a:ext cx="7610168" cy="34840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229D91-203D-681B-9C12-1BE0F3E4C920}"/>
              </a:ext>
            </a:extLst>
          </p:cNvPr>
          <p:cNvSpPr txBox="1"/>
          <p:nvPr/>
        </p:nvSpPr>
        <p:spPr>
          <a:xfrm>
            <a:off x="786581" y="191161"/>
            <a:ext cx="727587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b="1" i="1" dirty="0"/>
              <a:t> </a:t>
            </a:r>
            <a:r>
              <a:rPr lang="en-SG" sz="3200" b="1" i="1" u="sng" dirty="0"/>
              <a:t>States with Most Number of Jobs :</a:t>
            </a:r>
          </a:p>
          <a:p>
            <a:r>
              <a:rPr lang="en-SG" b="1" dirty="0"/>
              <a:t>Description:</a:t>
            </a:r>
          </a:p>
          <a:p>
            <a:r>
              <a:rPr lang="en-SG" sz="1600" dirty="0"/>
              <a:t>A bar chart showing the number of job openings in different states or cities in the U.S.</a:t>
            </a:r>
          </a:p>
          <a:p>
            <a:r>
              <a:rPr lang="en-SG" sz="1600" b="1" dirty="0"/>
              <a:t>Top Locations: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San Francisco, CA – 8.4K jobs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New York, NY – 7.1K jobs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Cambridge, MA – 6.5K jobs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Chicago, IL – 5.0K jobs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Boston, MA – 3.1K jobs</a:t>
            </a:r>
          </a:p>
          <a:p>
            <a:r>
              <a:rPr lang="en-SG" sz="1600" b="1" dirty="0"/>
              <a:t> Insight: </a:t>
            </a:r>
            <a:r>
              <a:rPr lang="en-SG" sz="1600" dirty="0"/>
              <a:t>California, especially San Francisco, is the top location for data-related jobs, followed by New York and Massachusetts</a:t>
            </a:r>
            <a:r>
              <a:rPr lang="en-SG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878" y="3524268"/>
            <a:ext cx="8229600" cy="31979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672370-597B-5131-2500-803007850A83}"/>
              </a:ext>
            </a:extLst>
          </p:cNvPr>
          <p:cNvSpPr txBox="1"/>
          <p:nvPr/>
        </p:nvSpPr>
        <p:spPr>
          <a:xfrm>
            <a:off x="555522" y="231059"/>
            <a:ext cx="808703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i="1" u="sng" dirty="0"/>
              <a:t> </a:t>
            </a:r>
            <a:r>
              <a:rPr lang="en-SG" sz="3200" b="1" i="1" u="sng" dirty="0"/>
              <a:t>Average Minimum and Maximum Salaries by State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A bar chart comparing lower and upper salary ranges for jobs across various states.</a:t>
            </a:r>
          </a:p>
          <a:p>
            <a:r>
              <a:rPr lang="en-SG" b="1" dirty="0"/>
              <a:t>Example Data:</a:t>
            </a:r>
          </a:p>
          <a:p>
            <a:pPr marL="285750" indent="-285750">
              <a:buFontTx/>
              <a:buChar char="-"/>
            </a:pPr>
            <a:r>
              <a:rPr lang="en-SG" dirty="0"/>
              <a:t>San Francisco, CA: High upper and lower salary values</a:t>
            </a:r>
          </a:p>
          <a:p>
            <a:pPr marL="285750" indent="-285750">
              <a:buFontTx/>
              <a:buChar char="-"/>
            </a:pPr>
            <a:r>
              <a:rPr lang="en-SG" dirty="0"/>
              <a:t>New York, NY: Slightly lower than SF</a:t>
            </a:r>
          </a:p>
          <a:p>
            <a:pPr marL="285750" indent="-285750">
              <a:buFontTx/>
              <a:buChar char="-"/>
            </a:pPr>
            <a:r>
              <a:rPr lang="en-SG" dirty="0"/>
              <a:t>San Jose, CA, Boston, MA: Close third and fourth</a:t>
            </a:r>
          </a:p>
          <a:p>
            <a:r>
              <a:rPr lang="en-SG" dirty="0"/>
              <a:t> </a:t>
            </a:r>
            <a:r>
              <a:rPr lang="en-SG" b="1" dirty="0"/>
              <a:t>Insight: </a:t>
            </a:r>
            <a:r>
              <a:rPr lang="en-SG" dirty="0"/>
              <a:t>California cities offer the highest salary ranges, making them attractive for high-skilled professionals.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9" y="2127086"/>
            <a:ext cx="8219768" cy="47309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C24827-45F3-E15D-7E06-7968331FD9BD}"/>
              </a:ext>
            </a:extLst>
          </p:cNvPr>
          <p:cNvSpPr txBox="1"/>
          <p:nvPr/>
        </p:nvSpPr>
        <p:spPr>
          <a:xfrm>
            <a:off x="626806" y="157316"/>
            <a:ext cx="7890387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b="1" i="1" u="sng" dirty="0"/>
              <a:t>Average Salary in Different States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Map visualization showing salary averages across states.</a:t>
            </a:r>
          </a:p>
          <a:p>
            <a:r>
              <a:rPr lang="en-SG" b="1" dirty="0"/>
              <a:t>Insight:</a:t>
            </a:r>
          </a:p>
          <a:p>
            <a:r>
              <a:rPr lang="en-SG" dirty="0"/>
              <a:t>Western and Northeastern U.S. states show higher average salaries, while interior and southern regions show relatively moderate pay.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290" y="2969341"/>
            <a:ext cx="8386916" cy="35396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BE2810-D32A-DA8C-54D6-800D6BABC0D4}"/>
              </a:ext>
            </a:extLst>
          </p:cNvPr>
          <p:cNvSpPr txBox="1"/>
          <p:nvPr/>
        </p:nvSpPr>
        <p:spPr>
          <a:xfrm>
            <a:off x="545689" y="0"/>
            <a:ext cx="809686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b="1" i="1" u="sng" dirty="0"/>
              <a:t>Top 5 Industries with Most Job Postings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Horizontal bar chart showing industry-wise job count.</a:t>
            </a:r>
          </a:p>
          <a:p>
            <a:r>
              <a:rPr lang="en-SG" b="1" dirty="0"/>
              <a:t>Top 5 Industries:</a:t>
            </a:r>
          </a:p>
          <a:p>
            <a:r>
              <a:rPr lang="en-SG" b="1" dirty="0"/>
              <a:t>1</a:t>
            </a:r>
            <a:r>
              <a:rPr lang="en-SG" dirty="0"/>
              <a:t>. Financial Transaction Processing  </a:t>
            </a:r>
            <a:r>
              <a:rPr lang="en-SG" b="1" dirty="0"/>
              <a:t>2</a:t>
            </a:r>
            <a:r>
              <a:rPr lang="en-SG" dirty="0"/>
              <a:t>. Gas Stations  </a:t>
            </a:r>
            <a:r>
              <a:rPr lang="en-SG" b="1" dirty="0"/>
              <a:t>3</a:t>
            </a:r>
            <a:r>
              <a:rPr lang="en-SG" dirty="0"/>
              <a:t>. Metals Brokers                                 </a:t>
            </a:r>
            <a:r>
              <a:rPr lang="en-SG" b="1" dirty="0"/>
              <a:t>4</a:t>
            </a:r>
            <a:r>
              <a:rPr lang="en-SG" dirty="0"/>
              <a:t>. Transportation Equipment Manufacturing  </a:t>
            </a:r>
            <a:r>
              <a:rPr lang="en-SG" b="1" dirty="0"/>
              <a:t>5</a:t>
            </a:r>
            <a:r>
              <a:rPr lang="en-SG" dirty="0"/>
              <a:t>. Transportation Management</a:t>
            </a:r>
          </a:p>
          <a:p>
            <a:r>
              <a:rPr lang="en-SG" b="1" dirty="0"/>
              <a:t>Insight:</a:t>
            </a:r>
          </a:p>
          <a:p>
            <a:r>
              <a:rPr lang="en-SG" dirty="0"/>
              <a:t>There’s a surprising presence of data jobs even in non-traditional tech sectors like gas stations and metal brokerage.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C473C1-0A35-604D-57BD-718F4394CF1A}"/>
              </a:ext>
            </a:extLst>
          </p:cNvPr>
          <p:cNvSpPr txBox="1"/>
          <p:nvPr/>
        </p:nvSpPr>
        <p:spPr>
          <a:xfrm>
            <a:off x="4355689" y="369663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21.43%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EA1C20-2EC7-9D41-2D85-0638686BFD27}"/>
              </a:ext>
            </a:extLst>
          </p:cNvPr>
          <p:cNvSpPr txBox="1"/>
          <p:nvPr/>
        </p:nvSpPr>
        <p:spPr>
          <a:xfrm>
            <a:off x="4355689" y="398452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7.14%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C6627-A709-A109-10CB-CDFD5ED3DBD8}"/>
              </a:ext>
            </a:extLst>
          </p:cNvPr>
          <p:cNvSpPr txBox="1"/>
          <p:nvPr/>
        </p:nvSpPr>
        <p:spPr>
          <a:xfrm>
            <a:off x="4281948" y="5171305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28.57%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5E64A8-8374-3549-7F89-271C9DD8759C}"/>
              </a:ext>
            </a:extLst>
          </p:cNvPr>
          <p:cNvSpPr txBox="1"/>
          <p:nvPr/>
        </p:nvSpPr>
        <p:spPr>
          <a:xfrm>
            <a:off x="4355689" y="4357027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14.29%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5720CD-80EE-0FA8-187B-8020B2702CE7}"/>
              </a:ext>
            </a:extLst>
          </p:cNvPr>
          <p:cNvSpPr txBox="1"/>
          <p:nvPr/>
        </p:nvSpPr>
        <p:spPr>
          <a:xfrm>
            <a:off x="4281948" y="598558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28.57%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2" y="3428999"/>
            <a:ext cx="8465574" cy="330412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DBEC29-F2B7-3633-248D-CF21B858CD75}"/>
              </a:ext>
            </a:extLst>
          </p:cNvPr>
          <p:cNvSpPr txBox="1"/>
          <p:nvPr/>
        </p:nvSpPr>
        <p:spPr>
          <a:xfrm>
            <a:off x="290052" y="124880"/>
            <a:ext cx="818535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 </a:t>
            </a:r>
            <a:r>
              <a:rPr lang="en-SG" sz="3200" b="1" i="1" u="sng" dirty="0"/>
              <a:t>Companies with Most Job Openings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Bar chart listing top companies hiring.</a:t>
            </a:r>
          </a:p>
          <a:p>
            <a:r>
              <a:rPr lang="en-SG" b="1" dirty="0"/>
              <a:t>Top Companies:</a:t>
            </a:r>
          </a:p>
          <a:p>
            <a:pPr marL="285750" indent="-285750">
              <a:buFontTx/>
              <a:buChar char="-"/>
            </a:pPr>
            <a:r>
              <a:rPr lang="en-SG" dirty="0"/>
              <a:t>Zest AI- Visa Inc</a:t>
            </a:r>
          </a:p>
          <a:p>
            <a:r>
              <a:rPr lang="en-SG" dirty="0"/>
              <a:t>-    Western Digital</a:t>
            </a:r>
          </a:p>
          <a:p>
            <a:r>
              <a:rPr lang="en-SG" dirty="0"/>
              <a:t>-    Walmart</a:t>
            </a:r>
          </a:p>
          <a:p>
            <a:pPr marL="285750" indent="-285750">
              <a:buFontTx/>
              <a:buChar char="-"/>
            </a:pPr>
            <a:r>
              <a:rPr lang="en-SG" dirty="0"/>
              <a:t>Zimmerman Advertising</a:t>
            </a:r>
          </a:p>
          <a:p>
            <a:r>
              <a:rPr lang="en-SG" b="1" dirty="0"/>
              <a:t>Insight:</a:t>
            </a:r>
          </a:p>
          <a:p>
            <a:r>
              <a:rPr lang="en-SG" dirty="0"/>
              <a:t>Tech and financial companies dominate hiring, but there are also opportunities in retail and media.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B0595B-1CBF-3D12-5E58-8C8169D91F27}"/>
              </a:ext>
            </a:extLst>
          </p:cNvPr>
          <p:cNvSpPr txBox="1"/>
          <p:nvPr/>
        </p:nvSpPr>
        <p:spPr>
          <a:xfrm>
            <a:off x="4439264" y="3699076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5E244F-281A-0103-BB2B-5A505E46F66D}"/>
              </a:ext>
            </a:extLst>
          </p:cNvPr>
          <p:cNvSpPr txBox="1"/>
          <p:nvPr/>
        </p:nvSpPr>
        <p:spPr>
          <a:xfrm>
            <a:off x="4028768" y="4006853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D1D3F6-6E42-472C-EED8-A3CB3F31D60A}"/>
              </a:ext>
            </a:extLst>
          </p:cNvPr>
          <p:cNvSpPr txBox="1"/>
          <p:nvPr/>
        </p:nvSpPr>
        <p:spPr>
          <a:xfrm>
            <a:off x="4028768" y="4276930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233DC2-F46B-3748-9BCC-8A8EE84F6E83}"/>
              </a:ext>
            </a:extLst>
          </p:cNvPr>
          <p:cNvSpPr txBox="1"/>
          <p:nvPr/>
        </p:nvSpPr>
        <p:spPr>
          <a:xfrm>
            <a:off x="3011129" y="4534061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DCC887-E49A-A338-2D70-E1D3C03E1DA8}"/>
              </a:ext>
            </a:extLst>
          </p:cNvPr>
          <p:cNvSpPr txBox="1"/>
          <p:nvPr/>
        </p:nvSpPr>
        <p:spPr>
          <a:xfrm>
            <a:off x="3011128" y="4798605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EF5430-A607-076C-47A8-279E51595426}"/>
              </a:ext>
            </a:extLst>
          </p:cNvPr>
          <p:cNvSpPr txBox="1"/>
          <p:nvPr/>
        </p:nvSpPr>
        <p:spPr>
          <a:xfrm>
            <a:off x="2276167" y="5012503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710BAE-97D2-D8B0-9784-20B5972147AB}"/>
              </a:ext>
            </a:extLst>
          </p:cNvPr>
          <p:cNvSpPr txBox="1"/>
          <p:nvPr/>
        </p:nvSpPr>
        <p:spPr>
          <a:xfrm>
            <a:off x="2276167" y="5292589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E0D31A-EFE5-A315-E8AE-3CD0FB06A934}"/>
              </a:ext>
            </a:extLst>
          </p:cNvPr>
          <p:cNvSpPr txBox="1"/>
          <p:nvPr/>
        </p:nvSpPr>
        <p:spPr>
          <a:xfrm>
            <a:off x="2276167" y="5817608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5399-527B-2BAA-B883-8C0B3008952E}"/>
              </a:ext>
            </a:extLst>
          </p:cNvPr>
          <p:cNvSpPr txBox="1"/>
          <p:nvPr/>
        </p:nvSpPr>
        <p:spPr>
          <a:xfrm>
            <a:off x="2276167" y="6067947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2E1173-680E-E58E-4567-083339E33D08}"/>
              </a:ext>
            </a:extLst>
          </p:cNvPr>
          <p:cNvSpPr txBox="1"/>
          <p:nvPr/>
        </p:nvSpPr>
        <p:spPr>
          <a:xfrm>
            <a:off x="2276166" y="5568944"/>
            <a:ext cx="42131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400" b="1" dirty="0">
                <a:solidFill>
                  <a:schemeClr val="bg1">
                    <a:lumMod val="95000"/>
                  </a:schemeClr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3637935"/>
            <a:ext cx="8445911" cy="31069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E0C7C2-6026-EF23-9D50-B353444A9C75}"/>
              </a:ext>
            </a:extLst>
          </p:cNvPr>
          <p:cNvSpPr txBox="1"/>
          <p:nvPr/>
        </p:nvSpPr>
        <p:spPr>
          <a:xfrm>
            <a:off x="543230" y="85660"/>
            <a:ext cx="771586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 </a:t>
            </a:r>
            <a:r>
              <a:rPr lang="en-SG" sz="3200" b="1" i="1" u="sng" dirty="0"/>
              <a:t>Job Titles with Most Job Postings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Bar chart showing the most common job titles in the data field.</a:t>
            </a:r>
          </a:p>
          <a:p>
            <a:r>
              <a:rPr lang="en-SG" b="1" dirty="0"/>
              <a:t>Top Roles:</a:t>
            </a:r>
          </a:p>
          <a:p>
            <a:pPr marL="285750" indent="-285750">
              <a:buFontTx/>
              <a:buChar char="-"/>
            </a:pPr>
            <a:r>
              <a:rPr lang="en-SG" dirty="0"/>
              <a:t>Data Scientist</a:t>
            </a:r>
          </a:p>
          <a:p>
            <a:pPr marL="285750" indent="-285750">
              <a:buFontTx/>
              <a:buChar char="-"/>
            </a:pPr>
            <a:r>
              <a:rPr lang="en-SG" dirty="0"/>
              <a:t>Data Engineer</a:t>
            </a:r>
          </a:p>
          <a:p>
            <a:pPr marL="285750" indent="-285750">
              <a:buFontTx/>
              <a:buChar char="-"/>
            </a:pPr>
            <a:r>
              <a:rPr lang="en-SG" dirty="0"/>
              <a:t>Senior Data Scientist</a:t>
            </a:r>
          </a:p>
          <a:p>
            <a:r>
              <a:rPr lang="en-SG" dirty="0"/>
              <a:t>-    Senior Data Engineer</a:t>
            </a:r>
          </a:p>
          <a:p>
            <a:pPr marL="285750" indent="-285750">
              <a:buFontTx/>
              <a:buChar char="-"/>
            </a:pPr>
            <a:r>
              <a:rPr lang="en-SG" dirty="0"/>
              <a:t>Lead Data Scientist</a:t>
            </a:r>
          </a:p>
          <a:p>
            <a:r>
              <a:rPr lang="en-SG" b="1" dirty="0"/>
              <a:t>Insight:</a:t>
            </a:r>
          </a:p>
          <a:p>
            <a:r>
              <a:rPr lang="en-SG" dirty="0"/>
              <a:t>Data Scientist and related roles are in high demand across different experience levels.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80" y="3715338"/>
            <a:ext cx="8249265" cy="3059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4830CD-D7C2-9CCA-FB3B-6D1C4C58070B}"/>
              </a:ext>
            </a:extLst>
          </p:cNvPr>
          <p:cNvSpPr txBox="1"/>
          <p:nvPr/>
        </p:nvSpPr>
        <p:spPr>
          <a:xfrm>
            <a:off x="663678" y="83575"/>
            <a:ext cx="788055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 </a:t>
            </a:r>
            <a:r>
              <a:rPr lang="en-SG" sz="3200" b="1" i="1" u="sng" dirty="0"/>
              <a:t>Salary of Job Titles with Most Jobs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Bar chart showing salary averages for various job titles.</a:t>
            </a:r>
          </a:p>
          <a:p>
            <a:r>
              <a:rPr lang="en-SG" b="1" dirty="0"/>
              <a:t>Top-Paying Roles:</a:t>
            </a:r>
          </a:p>
          <a:p>
            <a:pPr marL="285750" indent="-285750">
              <a:buFontTx/>
              <a:buChar char="-"/>
            </a:pPr>
            <a:r>
              <a:rPr lang="en-SG" dirty="0"/>
              <a:t>Lead Data Scientist</a:t>
            </a:r>
          </a:p>
          <a:p>
            <a:pPr marL="285750" indent="-285750">
              <a:buFontTx/>
              <a:buChar char="-"/>
            </a:pPr>
            <a:r>
              <a:rPr lang="en-SG" dirty="0"/>
              <a:t>Principal Data Scientist</a:t>
            </a:r>
          </a:p>
          <a:p>
            <a:pPr marL="285750" indent="-285750">
              <a:buFontTx/>
              <a:buChar char="-"/>
            </a:pPr>
            <a:r>
              <a:rPr lang="en-SG" dirty="0"/>
              <a:t>Director</a:t>
            </a:r>
          </a:p>
          <a:p>
            <a:pPr marL="285750" indent="-285750">
              <a:buFontTx/>
              <a:buChar char="-"/>
            </a:pPr>
            <a:r>
              <a:rPr lang="en-SG" dirty="0"/>
              <a:t>level roles</a:t>
            </a:r>
          </a:p>
          <a:p>
            <a:pPr marL="285750" indent="-285750">
              <a:buFontTx/>
              <a:buChar char="-"/>
            </a:pPr>
            <a:r>
              <a:rPr lang="en-SG" dirty="0"/>
              <a:t>Staff Machine Learning Engineer</a:t>
            </a:r>
          </a:p>
          <a:p>
            <a:r>
              <a:rPr lang="en-SG" b="1" dirty="0"/>
              <a:t>Insight:</a:t>
            </a:r>
          </a:p>
          <a:p>
            <a:r>
              <a:rPr lang="en-SG" dirty="0"/>
              <a:t>Leadership and specialized roles like Machine Learning Engineers command the highest salaries.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2628984"/>
            <a:ext cx="7855974" cy="41238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90C652-951B-0E72-353C-BD3A10B13B99}"/>
              </a:ext>
            </a:extLst>
          </p:cNvPr>
          <p:cNvSpPr txBox="1"/>
          <p:nvPr/>
        </p:nvSpPr>
        <p:spPr>
          <a:xfrm>
            <a:off x="668593" y="105215"/>
            <a:ext cx="7855973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dirty="0"/>
              <a:t> </a:t>
            </a:r>
            <a:r>
              <a:rPr lang="en-SG" sz="3200" b="1" i="1" u="sng" dirty="0"/>
              <a:t>Skills Required by Companies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Bar chart of job postings vs specific skills.</a:t>
            </a:r>
          </a:p>
          <a:p>
            <a:r>
              <a:rPr lang="en-SG" b="1" dirty="0"/>
              <a:t>Top Skills: </a:t>
            </a:r>
            <a:r>
              <a:rPr lang="en-SG" dirty="0"/>
              <a:t>1. Python (23.09%)  2. Excel (22.85%)  3. AWS (10.37%)  4. General data tools</a:t>
            </a:r>
          </a:p>
          <a:p>
            <a:r>
              <a:rPr lang="en-SG" b="1" dirty="0"/>
              <a:t>Insight:</a:t>
            </a:r>
          </a:p>
          <a:p>
            <a:r>
              <a:rPr lang="en-SG" dirty="0"/>
              <a:t>Python and Excel remain essential. AWS knowledge boosts employability in data roles.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emp_im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6" y="2576053"/>
            <a:ext cx="8160775" cy="41492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81E077C-2105-76E6-250E-9403199F7A12}"/>
              </a:ext>
            </a:extLst>
          </p:cNvPr>
          <p:cNvSpPr txBox="1"/>
          <p:nvPr/>
        </p:nvSpPr>
        <p:spPr>
          <a:xfrm>
            <a:off x="614515" y="132736"/>
            <a:ext cx="774290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dirty="0"/>
              <a:t> </a:t>
            </a:r>
            <a:r>
              <a:rPr lang="en-SG" sz="3200" b="1" i="1" u="sng" dirty="0"/>
              <a:t>Average Salary by Education Level :</a:t>
            </a:r>
          </a:p>
          <a:p>
            <a:r>
              <a:rPr lang="en-SG" b="1" dirty="0"/>
              <a:t>Description:</a:t>
            </a:r>
          </a:p>
          <a:p>
            <a:r>
              <a:rPr lang="en-SG" dirty="0"/>
              <a:t>Bar chart comparing education level (PhD, Master's, etc.) with average </a:t>
            </a:r>
            <a:r>
              <a:rPr lang="en-SG" b="1" dirty="0" err="1"/>
              <a:t>salary.Insight</a:t>
            </a:r>
            <a:r>
              <a:rPr lang="en-SG" b="1" dirty="0"/>
              <a:t>:</a:t>
            </a:r>
          </a:p>
          <a:p>
            <a:pPr marL="285750" indent="-285750">
              <a:buFontTx/>
              <a:buChar char="-"/>
            </a:pPr>
            <a:r>
              <a:rPr lang="en-SG" dirty="0"/>
              <a:t>PhDs earn the highest average salaries.</a:t>
            </a:r>
          </a:p>
          <a:p>
            <a:pPr marL="285750" indent="-285750">
              <a:buFontTx/>
              <a:buChar char="-"/>
            </a:pPr>
            <a:r>
              <a:rPr lang="en-SG" dirty="0"/>
              <a:t>Master’s degree holders also earn well.</a:t>
            </a:r>
          </a:p>
          <a:p>
            <a:pPr marL="285750" indent="-285750">
              <a:buFontTx/>
              <a:buChar char="-"/>
            </a:pPr>
            <a:r>
              <a:rPr lang="en-SG" dirty="0"/>
              <a:t>There’s a clear salary progression with higher education.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EAC3E3-3540-666F-4D25-0A07CB3E73F8}"/>
              </a:ext>
            </a:extLst>
          </p:cNvPr>
          <p:cNvSpPr txBox="1"/>
          <p:nvPr/>
        </p:nvSpPr>
        <p:spPr>
          <a:xfrm>
            <a:off x="3279058" y="34290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>
                <a:solidFill>
                  <a:schemeClr val="bg1">
                    <a:lumMod val="95000"/>
                  </a:schemeClr>
                </a:solidFill>
              </a:rPr>
              <a:t>116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468ACA-6677-8B58-B417-04DAFB662ADC}"/>
              </a:ext>
            </a:extLst>
          </p:cNvPr>
          <p:cNvSpPr txBox="1"/>
          <p:nvPr/>
        </p:nvSpPr>
        <p:spPr>
          <a:xfrm>
            <a:off x="3279058" y="437781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>
                <a:solidFill>
                  <a:schemeClr val="bg1">
                    <a:lumMod val="95000"/>
                  </a:schemeClr>
                </a:solidFill>
              </a:rPr>
              <a:t>106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1847FD-586F-8BD3-6E07-55EC8B8276EA}"/>
              </a:ext>
            </a:extLst>
          </p:cNvPr>
          <p:cNvSpPr txBox="1"/>
          <p:nvPr/>
        </p:nvSpPr>
        <p:spPr>
          <a:xfrm>
            <a:off x="3279058" y="536687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>
                <a:solidFill>
                  <a:schemeClr val="bg1">
                    <a:lumMod val="95000"/>
                  </a:schemeClr>
                </a:solidFill>
              </a:rPr>
              <a:t>95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BDC186-6B08-26EE-8CF9-BCDBCBE92693}"/>
              </a:ext>
            </a:extLst>
          </p:cNvPr>
          <p:cNvSpPr txBox="1"/>
          <p:nvPr/>
        </p:nvSpPr>
        <p:spPr>
          <a:xfrm>
            <a:off x="712838" y="826610"/>
            <a:ext cx="7750442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                          This Job Market Analysis provides a comprehensive view of the evolving employment landscape, with a focus on data-related roles across industries and regions. The insights gathered from the Power BI dashboard highlight key trends in job availability, salary ranges, in-demand skills, and educational expectations.</a:t>
            </a:r>
          </a:p>
          <a:p>
            <a:endParaRPr lang="en-US" b="1" dirty="0"/>
          </a:p>
          <a:p>
            <a:r>
              <a:rPr lang="en-US" sz="1600" b="1" dirty="0"/>
              <a:t>The data clearly shows that:</a:t>
            </a:r>
          </a:p>
          <a:p>
            <a:endParaRPr lang="en-US" sz="1600" b="1" dirty="0"/>
          </a:p>
          <a:p>
            <a:r>
              <a:rPr lang="en-US" sz="1600" b="1" dirty="0"/>
              <a:t>-  Data science and analytics roles are at the forefront of job market demand.</a:t>
            </a:r>
          </a:p>
          <a:p>
            <a:endParaRPr lang="en-US" sz="1600" b="1" dirty="0"/>
          </a:p>
          <a:p>
            <a:r>
              <a:rPr lang="en-US" sz="1600" b="1" dirty="0"/>
              <a:t>-  Geographic regions like San Francisco, New York, and Cambridge lead in job           opportunities and salary offerings.</a:t>
            </a:r>
          </a:p>
          <a:p>
            <a:endParaRPr lang="en-US" sz="1600" b="1" dirty="0"/>
          </a:p>
          <a:p>
            <a:r>
              <a:rPr lang="en-US" sz="1600" b="1" dirty="0"/>
              <a:t>-  Technical skills such as Python, Excel, and cloud platforms are crucial for employability.</a:t>
            </a:r>
          </a:p>
          <a:p>
            <a:endParaRPr lang="en-US" sz="1600" b="1" dirty="0"/>
          </a:p>
          <a:p>
            <a:r>
              <a:rPr lang="en-US" sz="1600" b="1" dirty="0"/>
              <a:t>-  Higher educational qualifications correlate with higher average salaries.</a:t>
            </a:r>
          </a:p>
          <a:p>
            <a:endParaRPr lang="en-US" sz="1600" b="1" dirty="0"/>
          </a:p>
          <a:p>
            <a:r>
              <a:rPr lang="en-US" sz="1600" b="1" dirty="0"/>
              <a:t>By aligning hiring strategies, skills training, and compensation structures with these insights, organizations and individuals can make informed decisions that support growth, efficiency, and long-term success.</a:t>
            </a:r>
            <a:endParaRPr lang="en-SG" sz="16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144952-BE99-F033-6089-8ED98F04999D}"/>
              </a:ext>
            </a:extLst>
          </p:cNvPr>
          <p:cNvSpPr txBox="1"/>
          <p:nvPr/>
        </p:nvSpPr>
        <p:spPr>
          <a:xfrm>
            <a:off x="2285999" y="18363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 b="1" i="1" u="sng" dirty="0"/>
              <a:t>Conclusion :</a:t>
            </a:r>
          </a:p>
        </p:txBody>
      </p:sp>
    </p:spTree>
    <p:extLst>
      <p:ext uri="{BB962C8B-B14F-4D97-AF65-F5344CB8AC3E}">
        <p14:creationId xmlns:p14="http://schemas.microsoft.com/office/powerpoint/2010/main" val="2581178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861</Words>
  <Application>Microsoft Office PowerPoint</Application>
  <PresentationFormat>On-screen Show (4:3)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Aharoni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prasad p</dc:creator>
  <cp:keywords/>
  <dc:description>generated using python-pptx</dc:description>
  <cp:lastModifiedBy>prasad p</cp:lastModifiedBy>
  <cp:revision>4</cp:revision>
  <dcterms:created xsi:type="dcterms:W3CDTF">2013-01-27T09:14:16Z</dcterms:created>
  <dcterms:modified xsi:type="dcterms:W3CDTF">2025-04-12T09:51:20Z</dcterms:modified>
  <cp:category/>
</cp:coreProperties>
</file>